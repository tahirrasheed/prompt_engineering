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0"/>
  </p:notesMasterIdLst>
  <p:handoutMasterIdLst>
    <p:handoutMasterId r:id="rId21"/>
  </p:handoutMasterIdLst>
  <p:sldIdLst>
    <p:sldId id="410" r:id="rId5"/>
    <p:sldId id="383" r:id="rId6"/>
    <p:sldId id="391" r:id="rId7"/>
    <p:sldId id="397" r:id="rId8"/>
    <p:sldId id="408" r:id="rId9"/>
    <p:sldId id="407" r:id="rId10"/>
    <p:sldId id="406" r:id="rId11"/>
    <p:sldId id="405" r:id="rId12"/>
    <p:sldId id="404" r:id="rId13"/>
    <p:sldId id="412" r:id="rId14"/>
    <p:sldId id="413" r:id="rId15"/>
    <p:sldId id="414" r:id="rId16"/>
    <p:sldId id="403" r:id="rId17"/>
    <p:sldId id="411" r:id="rId18"/>
    <p:sldId id="39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A19BD-4096-2496-BE7A-D357D021D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CB238-FB05-024C-A302-876E2D2FA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80270-1C53-C6A0-7BBC-F1CAB411C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58DCE-B540-85D6-C126-CA58AA374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496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F92D7-97E3-9C44-6F12-F96945021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9D7DC-7AC1-2BD2-BA0E-DA2062E38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87ED4-3021-B7BF-2951-403568D4D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8576F-3DC6-0509-EE9E-073AA8CEC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5952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5635F-A1FD-A09F-1738-7334C5EF1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CF658-F978-B0AC-78BE-8750C6D07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A61F30-798A-4D8F-4615-C04957D8C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7B242-C138-6D02-2690-FD78C5B07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311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3B4E-886A-CFB4-0169-8E114F4B1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7CD53-A446-0C10-CD70-8B0DC3BE3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F7BE8B-11A6-8506-CC7A-16442AF8D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9410C-9D34-37FD-713D-C5CC65890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4934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Tahir.Rasheed@gmail.co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History Of Ai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4" y="2281238"/>
            <a:ext cx="7101037" cy="4171320"/>
          </a:xfrm>
        </p:spPr>
        <p:txBody>
          <a:bodyPr tIns="457200">
            <a:normAutofit fontScale="70000" lnSpcReduction="2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Early Foundations (1940s–1950s)</a:t>
            </a:r>
          </a:p>
          <a:p>
            <a:r>
              <a:rPr lang="en-US" dirty="0"/>
              <a:t>The Symbolic AI Era (1956–1970s)</a:t>
            </a:r>
          </a:p>
          <a:p>
            <a:r>
              <a:rPr lang="en-US" dirty="0"/>
              <a:t>The AI Winters (1970s–1990s)</a:t>
            </a:r>
          </a:p>
          <a:p>
            <a:r>
              <a:rPr lang="en-US" dirty="0"/>
              <a:t>Machine Learning Renaissance (1990s–2010)</a:t>
            </a:r>
          </a:p>
          <a:p>
            <a:r>
              <a:rPr lang="en-US" dirty="0"/>
              <a:t>Deep Learning and the Rise of Neural Networks (2010–2020)</a:t>
            </a:r>
          </a:p>
          <a:p>
            <a:r>
              <a:rPr lang="en-US" dirty="0"/>
              <a:t>Large Language Models (LLMs) Explained</a:t>
            </a:r>
          </a:p>
          <a:p>
            <a:r>
              <a:rPr lang="en-US" dirty="0"/>
              <a:t>The Era of Generative and Agentic AI (2020–Present)</a:t>
            </a:r>
          </a:p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Definition: Artificial Intelligence (AI) is the simulation of human intelligence in machines programmed to think, learn, and problem-solve.</a:t>
            </a:r>
          </a:p>
          <a:p>
            <a:r>
              <a:rPr lang="en-US" dirty="0"/>
              <a:t>Objective: Understand how AI evolved from early symbolic reasoning to modern agentic and generative systems.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Early Foundations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r>
              <a:rPr lang="en-US" dirty="0"/>
              <a:t>(1940s–1950s) 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Early Foundations (1940s–1950s)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>
            <a:normAutofit/>
          </a:bodyPr>
          <a:lstStyle/>
          <a:p>
            <a:r>
              <a:rPr lang="en-US" dirty="0"/>
              <a:t>Mathematical Roots: Alan Turing’s 1950 paper “Computing Machinery and Intelligence” introduced the concept of thinking machines and the Turing Test.</a:t>
            </a:r>
          </a:p>
          <a:p>
            <a:endParaRPr lang="en-US" dirty="0"/>
          </a:p>
          <a:p>
            <a:r>
              <a:rPr lang="en-US" dirty="0"/>
              <a:t>Cybernetics: Norbert Wiener explored control systems and feedback mechanisms.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/>
          <a:lstStyle/>
          <a:p>
            <a:r>
              <a:rPr lang="en-US" dirty="0"/>
              <a:t>First AI Programs:</a:t>
            </a:r>
          </a:p>
          <a:p>
            <a:r>
              <a:rPr lang="en-US" dirty="0"/>
              <a:t>1951: Christopher Strachey’s Checkers-playing program.</a:t>
            </a:r>
          </a:p>
          <a:p>
            <a:endParaRPr lang="en-US" dirty="0"/>
          </a:p>
          <a:p>
            <a:r>
              <a:rPr lang="en-US" dirty="0"/>
              <a:t>1956: John McCarthy coined the term Artificial Intelligence at the Dartmouth Conference, marking the birth of AI as a field.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</p:spPr>
        <p:txBody>
          <a:bodyPr/>
          <a:lstStyle/>
          <a:p>
            <a:r>
              <a:rPr lang="en-US" dirty="0"/>
              <a:t>The Symbolic AI Era (1956–1970s)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99B60-BF79-A832-6AD4-6C6FC6CE43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1000" y="1298930"/>
            <a:ext cx="5715000" cy="492570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Approach: Logic-based reasoning and symbolic manipulation.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Key Milestones:</a:t>
            </a:r>
          </a:p>
          <a:p>
            <a:pPr lvl="2"/>
            <a:r>
              <a:rPr lang="en-US" dirty="0"/>
              <a:t>Logic Theorist (1956) and General Problem Solver (1957) by Newell and Simon.</a:t>
            </a:r>
          </a:p>
          <a:p>
            <a:pPr lvl="2"/>
            <a:r>
              <a:rPr lang="en-US" dirty="0"/>
              <a:t>Early expert systems like DENDRAL (chemistry) and MYCIN (medical diagnosis).</a:t>
            </a:r>
          </a:p>
          <a:p>
            <a:pPr lvl="1"/>
            <a:r>
              <a:rPr lang="en-US" dirty="0"/>
              <a:t>Limitations: Lack of computational power, limited data, and inability to handle ambiguity or uncertainty.</a:t>
            </a: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540" y="899231"/>
            <a:ext cx="5063490" cy="1809463"/>
          </a:xfrm>
        </p:spPr>
        <p:txBody>
          <a:bodyPr/>
          <a:lstStyle/>
          <a:p>
            <a:r>
              <a:rPr lang="en-US" dirty="0"/>
              <a:t>The AI Winters (1970s–1990s)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2915724"/>
            <a:ext cx="8860826" cy="3761117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Causes:</a:t>
            </a:r>
          </a:p>
          <a:p>
            <a:r>
              <a:rPr lang="en-US" sz="1800" dirty="0"/>
              <a:t>	Overhyped expectations vs. real-world performance.</a:t>
            </a:r>
          </a:p>
          <a:p>
            <a:r>
              <a:rPr lang="en-US" sz="1800" dirty="0"/>
              <a:t>	Funding cuts after unmet promises.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AI Winter Periods:</a:t>
            </a:r>
          </a:p>
          <a:p>
            <a:r>
              <a:rPr lang="en-US" sz="1800" dirty="0"/>
              <a:t>	First (1974–1980): Symbolic AI limitations.</a:t>
            </a:r>
          </a:p>
          <a:p>
            <a:r>
              <a:rPr lang="en-US" sz="1800" dirty="0"/>
              <a:t>	Second (1987–1993): Collapse of expert systems and hardware overreliance.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Impact: Shift toward statistical and data-driven approaches.</a:t>
            </a:r>
          </a:p>
        </p:txBody>
      </p:sp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A9A9A7-F1D2-237D-AC72-E21A286F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783" y="4816992"/>
            <a:ext cx="7936230" cy="1380760"/>
          </a:xfrm>
        </p:spPr>
        <p:txBody>
          <a:bodyPr/>
          <a:lstStyle/>
          <a:p>
            <a:r>
              <a:rPr lang="en-US" dirty="0"/>
              <a:t>Machine Learning Renaissance (1990s–2010)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BB50EF7-FC1B-0F03-5EA4-E5BDFE247B80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603250" y="1152496"/>
            <a:ext cx="1032205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Shift from Rules to Data: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Machines learned patterns from data instead of explicit programming.</a:t>
            </a:r>
            <a:endParaRPr kumimoji="0" lang="en-US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Developments: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Emergence of </a:t>
            </a:r>
            <a:r>
              <a:rPr kumimoji="0" lang="en-PK" altLang="en-PK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neural networks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PK" altLang="en-PK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support vector machines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Growth of </a:t>
            </a:r>
            <a:r>
              <a:rPr kumimoji="0" lang="en-PK" altLang="en-PK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big data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improved </a:t>
            </a:r>
            <a:r>
              <a:rPr kumimoji="0" lang="en-PK" altLang="en-PK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computing power (GPUs)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  <a:endParaRPr kumimoji="0" lang="en-US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Breakthroughs: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1997: IBM’s </a:t>
            </a:r>
            <a:r>
              <a:rPr kumimoji="0" lang="en-PK" altLang="en-PK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Deep Blue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defeated chess champion Garry Kasparov.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2006: Geoffrey Hinton’s </a:t>
            </a:r>
            <a:r>
              <a:rPr kumimoji="0" lang="en-PK" altLang="en-PK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Deep Learning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revival.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Deep Learning and the Rise of Neural Networks (2010–2020)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0A94307-83A1-D465-1E43-FAFEE8EC293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17675" y="2722611"/>
            <a:ext cx="1077430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Deep Learning Boom: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endParaRPr kumimoji="0" lang="en-US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PK" sz="1800" dirty="0">
                <a:latin typeface="Arial" panose="020B0604020202020204" pitchFamily="34" charset="0"/>
              </a:rPr>
              <a:t>	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Hierarchical neural networks achieved human-level performance in vision, speech,</a:t>
            </a:r>
            <a:endParaRPr kumimoji="0" lang="en-US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PK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Milestones: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2012: </a:t>
            </a:r>
            <a:r>
              <a:rPr kumimoji="0" lang="en-PK" altLang="en-PK" sz="1800" b="0" i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AlexNet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won the ImageNet competition, igniting the deep learning revolution.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2016: </a:t>
            </a:r>
            <a:r>
              <a:rPr kumimoji="0" lang="en-PK" altLang="en-PK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AlphaGo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defeated world Go champion Lee Sedol using deep reinforcement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2018–2020: Emergence of large-scale transformers like </a:t>
            </a:r>
            <a:r>
              <a:rPr kumimoji="0" lang="en-PK" altLang="en-PK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BERT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PK" altLang="en-PK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GPT-2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and </a:t>
            </a:r>
            <a:r>
              <a:rPr kumimoji="0" lang="en-PK" altLang="en-PK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T5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282FD-89F9-6973-C60A-524E6B950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29C4-2C3B-25DF-F288-5C53BAE3F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Early Foundations (1940s–1950s)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4C1BF-6451-5D56-7429-667CDD1B53F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>
            <a:normAutofit/>
          </a:bodyPr>
          <a:lstStyle/>
          <a:p>
            <a:r>
              <a:rPr lang="en-US" dirty="0"/>
              <a:t>Mathematical Roots: Alan Turing’s 1950 paper “Computing Machinery and Intelligence” introduced the concept of thinking machines and the Turing Test.</a:t>
            </a:r>
          </a:p>
          <a:p>
            <a:endParaRPr lang="en-US" dirty="0"/>
          </a:p>
          <a:p>
            <a:r>
              <a:rPr lang="en-US" dirty="0"/>
              <a:t>Cybernetics: Norbert Wiener explored control systems and feedback mechanisms.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4B160-9E76-5D6B-4B95-E600218B86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/>
          <a:lstStyle/>
          <a:p>
            <a:r>
              <a:rPr lang="en-US" dirty="0"/>
              <a:t>First AI Programs:</a:t>
            </a:r>
          </a:p>
          <a:p>
            <a:r>
              <a:rPr lang="en-US" dirty="0"/>
              <a:t>1951: Christopher Strachey’s Checkers-playing program.</a:t>
            </a:r>
          </a:p>
          <a:p>
            <a:endParaRPr lang="en-US" dirty="0"/>
          </a:p>
          <a:p>
            <a:r>
              <a:rPr lang="en-US" dirty="0"/>
              <a:t>1956: John McCarthy coined the term Artificial Intelligence at the Dartmouth Conference, marking the birth of AI as a field.</a:t>
            </a:r>
          </a:p>
        </p:txBody>
      </p:sp>
    </p:spTree>
    <p:extLst>
      <p:ext uri="{BB962C8B-B14F-4D97-AF65-F5344CB8AC3E}">
        <p14:creationId xmlns:p14="http://schemas.microsoft.com/office/powerpoint/2010/main" val="369423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A5D8E-65A4-1143-EBE1-F81483898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DD5C1-8DED-972C-C08B-0A281EBC6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Large Language Models (LLMs)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BD2F6-98A3-6D9D-7C1F-4FE13CE424D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9179368" cy="3336086"/>
          </a:xfrm>
        </p:spPr>
        <p:txBody>
          <a:bodyPr>
            <a:noAutofit/>
          </a:bodyPr>
          <a:lstStyle/>
          <a:p>
            <a:r>
              <a:rPr lang="en-US" b="1" dirty="0"/>
              <a:t>How They Work</a:t>
            </a:r>
          </a:p>
          <a:p>
            <a:r>
              <a:rPr lang="en-US" b="1" dirty="0"/>
              <a:t>Architecture:</a:t>
            </a:r>
            <a:r>
              <a:rPr lang="en-US" dirty="0"/>
              <a:t> Based on </a:t>
            </a:r>
            <a:r>
              <a:rPr lang="en-US" i="1" dirty="0"/>
              <a:t>transformers</a:t>
            </a:r>
            <a:r>
              <a:rPr lang="en-US" dirty="0"/>
              <a:t>—introduced by Vaswani et al. (2017) in </a:t>
            </a:r>
            <a:r>
              <a:rPr lang="en-US" i="1" dirty="0"/>
              <a:t>"Attention is All You Need"</a:t>
            </a:r>
            <a:r>
              <a:rPr lang="en-US" dirty="0"/>
              <a:t>.</a:t>
            </a:r>
          </a:p>
          <a:p>
            <a:r>
              <a:rPr lang="en-US" b="1" dirty="0"/>
              <a:t>Mechanism:</a:t>
            </a:r>
            <a:endParaRPr lang="en-US" dirty="0"/>
          </a:p>
          <a:p>
            <a:pPr lvl="1"/>
            <a:r>
              <a:rPr lang="en-US" dirty="0"/>
              <a:t>Tokenizes text into smaller units.</a:t>
            </a:r>
          </a:p>
          <a:p>
            <a:pPr lvl="1"/>
            <a:r>
              <a:rPr lang="en-US" dirty="0"/>
              <a:t>Uses </a:t>
            </a:r>
            <a:r>
              <a:rPr lang="en-US" i="1" dirty="0"/>
              <a:t>self-attention</a:t>
            </a:r>
            <a:r>
              <a:rPr lang="en-US" dirty="0"/>
              <a:t> to weigh the relevance of words in context.</a:t>
            </a:r>
          </a:p>
          <a:p>
            <a:pPr lvl="1"/>
            <a:r>
              <a:rPr lang="en-US" dirty="0"/>
              <a:t>Predicts the next token to generate coherent language.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126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63F4D-3B8C-958A-1760-DA195F917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E6A3-4792-8365-F5B3-F6523C4EB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Large Language Models (LLMs)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40259-39A9-D52F-334D-5026CC96E37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391853"/>
            <a:ext cx="9179368" cy="1584924"/>
          </a:xfrm>
        </p:spPr>
        <p:txBody>
          <a:bodyPr>
            <a:noAutofit/>
          </a:bodyPr>
          <a:lstStyle/>
          <a:p>
            <a:r>
              <a:rPr lang="en-US" b="1" dirty="0"/>
              <a:t>Training:</a:t>
            </a:r>
            <a:endParaRPr lang="en-US" dirty="0"/>
          </a:p>
          <a:p>
            <a:r>
              <a:rPr lang="en-US" dirty="0"/>
              <a:t>Trained on trillions of tokens using massive datasets and distributed computing.</a:t>
            </a:r>
          </a:p>
          <a:p>
            <a:r>
              <a:rPr lang="en-US" dirty="0"/>
              <a:t>Fine-tuned using </a:t>
            </a:r>
            <a:r>
              <a:rPr lang="en-US" i="1" dirty="0"/>
              <a:t>Reinforcement Learning from Human Feedback (RLHF)</a:t>
            </a:r>
            <a:r>
              <a:rPr lang="en-US"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E5A08F-5AE5-E6EB-6CD1-238B84FD7623}"/>
              </a:ext>
            </a:extLst>
          </p:cNvPr>
          <p:cNvSpPr txBox="1">
            <a:spLocks/>
          </p:cNvSpPr>
          <p:nvPr/>
        </p:nvSpPr>
        <p:spPr>
          <a:xfrm>
            <a:off x="522473" y="3915853"/>
            <a:ext cx="9179368" cy="2415936"/>
          </a:xfrm>
          <a:prstGeom prst="rect">
            <a:avLst/>
          </a:prstGeom>
        </p:spPr>
        <p:txBody>
          <a:bodyPr vert="horz" lIns="0" tIns="4572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943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229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0584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Key Breakthroughs</a:t>
            </a:r>
          </a:p>
          <a:p>
            <a:r>
              <a:rPr lang="en-US" dirty="0"/>
              <a:t>Transformer architecture enabling parallel processing.</a:t>
            </a:r>
          </a:p>
          <a:p>
            <a:r>
              <a:rPr lang="en-US" dirty="0"/>
              <a:t>Scaling laws showing that performance improves predictably with more data and parameters.</a:t>
            </a:r>
          </a:p>
          <a:p>
            <a:r>
              <a:rPr lang="en-US" dirty="0"/>
              <a:t>Hardware acceleration (GPUs, TPUs) and distributed training frameworks.</a:t>
            </a:r>
          </a:p>
        </p:txBody>
      </p:sp>
    </p:spTree>
    <p:extLst>
      <p:ext uri="{BB962C8B-B14F-4D97-AF65-F5344CB8AC3E}">
        <p14:creationId xmlns:p14="http://schemas.microsoft.com/office/powerpoint/2010/main" val="1124332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 dirty="0"/>
              <a:t>Key Paradigm Shifts in AI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4D1FB21E-CCFB-8E64-064C-DB8195F86847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455598858"/>
              </p:ext>
            </p:extLst>
          </p:nvPr>
        </p:nvGraphicFramePr>
        <p:xfrm>
          <a:off x="1085430" y="2516756"/>
          <a:ext cx="9723468" cy="356813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241156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3241156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3241156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</a:tblGrid>
              <a:tr h="594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Era</a:t>
                      </a:r>
                      <a:endParaRPr lang="en-US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Dominant Paradigm</a:t>
                      </a:r>
                      <a:endParaRPr lang="en-US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 Systems</a:t>
                      </a:r>
                      <a:endParaRPr lang="en-US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1950s–1970s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Symbolic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Logic Theorist, MYCIN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1980s–1990s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Expert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DENDRAL, XCON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1990s–2010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SVMs, Deep Blue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algn="ctr"/>
                      <a:r>
                        <a:rPr lang="en-PK" dirty="0"/>
                        <a:t>2010–2020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AlexNet</a:t>
                      </a:r>
                      <a:r>
                        <a:rPr lang="en-US" dirty="0"/>
                        <a:t>, AlphaGo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2020–Present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Generative &amp; Agentic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GPT-4, Claude, Gemini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7FC2E-CE84-1B4E-F141-077889CC8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5B8A26-73FD-BE61-3F62-ED3DD9417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214226-0106-E2F6-B332-A01D97EEF1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2713456"/>
          </a:xfrm>
        </p:spPr>
        <p:txBody>
          <a:bodyPr>
            <a:normAutofit/>
          </a:bodyPr>
          <a:lstStyle/>
          <a:p>
            <a:r>
              <a:rPr lang="en-US" dirty="0"/>
              <a:t>AI has evolved from symbolic reasoning to self-learning, generative, and agentic systems.</a:t>
            </a:r>
          </a:p>
          <a:p>
            <a:r>
              <a:rPr lang="en-US" b="1" dirty="0"/>
              <a:t>Current Direction:</a:t>
            </a:r>
            <a:r>
              <a:rPr lang="en-US" dirty="0"/>
              <a:t> Towards autonomy, reasoning, and trustworthy AI.</a:t>
            </a:r>
          </a:p>
          <a:p>
            <a:r>
              <a:rPr lang="en-US" b="1" dirty="0"/>
              <a:t>Future Outlook:</a:t>
            </a:r>
            <a:r>
              <a:rPr lang="en-US" dirty="0"/>
              <a:t> Collaboration between human and machine intelligence, ethical governance, and adaptive intelligent agents.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5581413-28A4-D860-CF74-757A6E025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44F36FD-5108-5315-0898-C739AC6C5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AA485E9-02EF-2571-EFF3-83C840170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0DC075B-4F3C-A849-9882-5E922FB27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57012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Tahir Rasheed Ahmed</a:t>
            </a:r>
          </a:p>
          <a:p>
            <a:r>
              <a:rPr lang="en-US" dirty="0"/>
              <a:t>Roll# 00169349 (Q4)</a:t>
            </a:r>
          </a:p>
          <a:p>
            <a:r>
              <a:rPr lang="en-US" dirty="0">
                <a:hlinkClick r:id="rId3"/>
              </a:rPr>
              <a:t>Tahir.Rasheed@gmail.com</a:t>
            </a:r>
            <a:endParaRPr lang="en-US" dirty="0"/>
          </a:p>
          <a:p>
            <a:r>
              <a:rPr lang="en-US" dirty="0"/>
              <a:t>Governor House Karachi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40</TotalTime>
  <Words>806</Words>
  <Application>Microsoft Office PowerPoint</Application>
  <PresentationFormat>Widescreen</PresentationFormat>
  <Paragraphs>123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Franklin Gothic Book</vt:lpstr>
      <vt:lpstr>Franklin Gothic Demi</vt:lpstr>
      <vt:lpstr>Wingdings</vt:lpstr>
      <vt:lpstr>Custom</vt:lpstr>
      <vt:lpstr>History Of Ai presentation</vt:lpstr>
      <vt:lpstr>Agenda</vt:lpstr>
      <vt:lpstr>Introduction</vt:lpstr>
      <vt:lpstr>Early Foundations</vt:lpstr>
      <vt:lpstr>Early Foundations (1940s–1950s)</vt:lpstr>
      <vt:lpstr>The Symbolic AI Era (1956–1970s)</vt:lpstr>
      <vt:lpstr>The AI Winters (1970s–1990s)</vt:lpstr>
      <vt:lpstr>Machine Learning Renaissance (1990s–2010)</vt:lpstr>
      <vt:lpstr>Deep Learning and the Rise of Neural Networks (2010–2020)</vt:lpstr>
      <vt:lpstr>Early Foundations (1940s–1950s)</vt:lpstr>
      <vt:lpstr>Large Language Models (LLMs) Explained</vt:lpstr>
      <vt:lpstr>Large Language Models (LLMs) Explained</vt:lpstr>
      <vt:lpstr>Key Paradigm Shifts in AI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Tahir Rasheed Ahmed</dc:creator>
  <cp:lastModifiedBy>Tahir Rasheed Ahmed</cp:lastModifiedBy>
  <cp:revision>29</cp:revision>
  <dcterms:created xsi:type="dcterms:W3CDTF">2025-11-10T11:33:28Z</dcterms:created>
  <dcterms:modified xsi:type="dcterms:W3CDTF">2025-11-11T12:39:11Z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